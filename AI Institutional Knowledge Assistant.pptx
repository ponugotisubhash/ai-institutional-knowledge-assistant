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73" r:id="rId5"/>
    <p:sldId id="275" r:id="rId6"/>
    <p:sldId id="277" r:id="rId7"/>
    <p:sldId id="280" r:id="rId8"/>
    <p:sldId id="281" r:id="rId9"/>
    <p:sldId id="282" r:id="rId10"/>
    <p:sldId id="279" r:id="rId11"/>
    <p:sldId id="283" r:id="rId12"/>
    <p:sldId id="276" r:id="rId13"/>
    <p:sldId id="278" r:id="rId14"/>
    <p:sldId id="274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27"/>
  </p:normalViewPr>
  <p:slideViewPr>
    <p:cSldViewPr snapToGrid="0">
      <p:cViewPr>
        <p:scale>
          <a:sx n="80" d="100"/>
          <a:sy n="80" d="100"/>
        </p:scale>
        <p:origin x="782" y="-14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6/2/2026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bert.net/?utm_source=chatgpt.com" TargetMode="External"/><Relationship Id="rId2" Type="http://schemas.openxmlformats.org/officeDocument/2006/relationships/hyperlink" Target="https://faiss.ai/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ypdf.readthedocs.io/?utm_source=chatgpt.com" TargetMode="External"/><Relationship Id="rId5" Type="http://schemas.openxmlformats.org/officeDocument/2006/relationships/hyperlink" Target="https://streamlit.io/?utm_source=chatgpt.com" TargetMode="External"/><Relationship Id="rId4" Type="http://schemas.openxmlformats.org/officeDocument/2006/relationships/hyperlink" Target="https://ai.google.dev/?utm_source=chatgpt.com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76225"/>
            <a:ext cx="8316087" cy="3433826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Institutional Knowledge Assistant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Retrieval-Augmented Generation (RAG) System for Enterprise Document Intelligence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Stack:-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Embeddings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CrossEncoder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2.5 Flash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Subhash P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" y="1268349"/>
            <a:ext cx="7498080" cy="704088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526" y="2096262"/>
            <a:ext cx="7470648" cy="3296563"/>
          </a:xfrm>
        </p:spPr>
        <p:txBody>
          <a:bodyPr/>
          <a:lstStyle/>
          <a:p>
            <a:r>
              <a:rPr lang="en-US" dirty="0"/>
              <a:t>Business Problem</a:t>
            </a:r>
          </a:p>
          <a:p>
            <a:r>
              <a:rPr lang="en-US" dirty="0"/>
              <a:t>Organizations store critical information inside PDFs.</a:t>
            </a:r>
          </a:p>
          <a:p>
            <a:r>
              <a:rPr lang="en-US" dirty="0"/>
              <a:t>Challenges:</a:t>
            </a:r>
          </a:p>
          <a:p>
            <a:r>
              <a:rPr lang="en-US" dirty="0"/>
              <a:t>🔴 Manual searching is time-consuming</a:t>
            </a:r>
          </a:p>
          <a:p>
            <a:r>
              <a:rPr lang="en-US" dirty="0"/>
              <a:t>🔴 Information is scattered across documents</a:t>
            </a:r>
          </a:p>
          <a:p>
            <a:r>
              <a:rPr lang="en-US" dirty="0"/>
              <a:t>🔴 Employees struggle to locate answers quickly</a:t>
            </a:r>
          </a:p>
          <a:p>
            <a:r>
              <a:rPr lang="en-US" dirty="0"/>
              <a:t>🔴 Traditional search lacks semantic understanding</a:t>
            </a:r>
          </a:p>
          <a:p>
            <a:r>
              <a:rPr lang="en-US" dirty="0"/>
              <a:t>🔴 No visibility into AI answer quality</a:t>
            </a:r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79" y="2044065"/>
            <a:ext cx="11321796" cy="250888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/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AI assistant capable of answering document-based questions with grounded and explainable responses.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1752"/>
            <a:ext cx="4846320" cy="1682749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0A10AF0-18B6-A040-9FDC-C3C996356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019175"/>
            <a:ext cx="11649076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288411"/>
            <a:ext cx="10515600" cy="575321"/>
          </a:xfrm>
        </p:spPr>
        <p:txBody>
          <a:bodyPr/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2AECE5-DB1A-ADE4-CAB2-B0BFAD3C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877073"/>
            <a:ext cx="11715369" cy="587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10AA-DDBA-D5A2-A34D-69E216713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 anchor="t">
            <a:normAutofit/>
          </a:bodyPr>
          <a:lstStyle/>
          <a:p>
            <a:r>
              <a:rPr lang="en-US" sz="3500"/>
              <a:t>Technical Design Decisions: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2408" y="301752"/>
            <a:ext cx="1673352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3C3C25B-8B42-CCBA-5158-8DF664916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65306"/>
              </p:ext>
            </p:extLst>
          </p:nvPr>
        </p:nvGraphicFramePr>
        <p:xfrm>
          <a:off x="2686415" y="2953512"/>
          <a:ext cx="6742970" cy="3296566"/>
        </p:xfrm>
        <a:graphic>
          <a:graphicData uri="http://schemas.openxmlformats.org/drawingml/2006/table">
            <a:tbl>
              <a:tblPr/>
              <a:tblGrid>
                <a:gridCol w="2390365">
                  <a:extLst>
                    <a:ext uri="{9D8B030D-6E8A-4147-A177-3AD203B41FA5}">
                      <a16:colId xmlns:a16="http://schemas.microsoft.com/office/drawing/2014/main" val="2097753941"/>
                    </a:ext>
                  </a:extLst>
                </a:gridCol>
                <a:gridCol w="4352605">
                  <a:extLst>
                    <a:ext uri="{9D8B030D-6E8A-4147-A177-3AD203B41FA5}">
                      <a16:colId xmlns:a16="http://schemas.microsoft.com/office/drawing/2014/main" val="4043817505"/>
                    </a:ext>
                  </a:extLst>
                </a:gridCol>
              </a:tblGrid>
              <a:tr h="47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Component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Why Chosen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701304"/>
                  </a:ext>
                </a:extLst>
              </a:tr>
              <a:tr h="47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MiniLM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Lightweight and fast embeddings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619963"/>
                  </a:ext>
                </a:extLst>
              </a:tr>
              <a:tr h="47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FAISS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Efficient semantic retrieval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212645"/>
                  </a:ext>
                </a:extLst>
              </a:tr>
              <a:tr h="47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CrossEncoder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Improves relevance ranking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51508"/>
                  </a:ext>
                </a:extLst>
              </a:tr>
              <a:tr h="47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Gemini 2.5 Flash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Fast response generation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568300"/>
                  </a:ext>
                </a:extLst>
              </a:tr>
              <a:tr h="47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SQLite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Lightweight audit logging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28689"/>
                  </a:ext>
                </a:extLst>
              </a:tr>
              <a:tr h="47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Streamlit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Rapid AI application development</a:t>
                      </a:r>
                    </a:p>
                  </a:txBody>
                  <a:tcPr marL="107031" marR="107031" marT="53516" marB="53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895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2C4D-3F97-1652-3A4A-C989986D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2" y="189357"/>
            <a:ext cx="5779770" cy="1682749"/>
          </a:xfrm>
        </p:spPr>
        <p:txBody>
          <a:bodyPr/>
          <a:lstStyle/>
          <a:p>
            <a:r>
              <a:rPr lang="en-US" b="1"/>
              <a:t>Observability Dashboard</a:t>
            </a:r>
            <a:endParaRPr lang="en-US" b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8378E4-1369-B8BE-D097-D0A68C99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27DC91B-8086-5462-1E04-D81701E21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2" y="1475232"/>
            <a:ext cx="8653665" cy="52970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3D0525-D68D-3F72-4AF2-5FA258BD5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469" y="576072"/>
            <a:ext cx="6006181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55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8</a:t>
            </a:fld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48CA5C8-EA37-644A-3E53-15A45AAAC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161" y="5524114"/>
            <a:ext cx="9507277" cy="123842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1EE2E62-C552-4D22-C7AF-D470C58C5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4" y="95463"/>
            <a:ext cx="10115266" cy="544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1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C01-2837-2D71-254F-BAEEC66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251"/>
            <a:ext cx="10515600" cy="575321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Roadmap: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83BE29-9226-E728-BAD0-B02DEAD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FC21A7-9696-45DB-D118-FE8E72C3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726571"/>
            <a:ext cx="11687175" cy="582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4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54CCA8-9E58-39CC-C428-F4B1934869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485" y="76201"/>
            <a:ext cx="8759190" cy="171602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References, Tools &amp; Acknowledgments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References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FAISS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Sentence Transformers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Google Gemini API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PyPDF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&amp; Frameworks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2.5 Flash (LLM)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all-MiniLM-L6-v2 (Embeddings)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CrossEncoder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ms-marco-MiniLM-L-6-v2 (Re-ranking)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(Vector Search)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(Audit Logging)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(Application Layer)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Development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diagrams and visual assets were generated and refined using Google Gemini.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structure, design brainstorming, technical review, and communication refinement were assisted using OpenAI ChatGPT.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</Template>
  <TotalTime>393</TotalTime>
  <Words>253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AI Institutional Knowledge Assistant   A Retrieval-Augmented Generation (RAG) System for Enterprise Document Intelligence    Tech Stack:-  Streamlit  MiniLM Embeddings  FAISS  CrossEncoder  Gemini 2.5 Flash  SQLite</vt:lpstr>
      <vt:lpstr>Problem Statement:</vt:lpstr>
      <vt:lpstr>Goal:  Build an AI assistant capable of answering document-based questions with grounded and explainable responses.</vt:lpstr>
      <vt:lpstr>Solution Overview </vt:lpstr>
      <vt:lpstr>System Architecture:</vt:lpstr>
      <vt:lpstr>Technical Design Decisions:</vt:lpstr>
      <vt:lpstr>Observability Dashboard</vt:lpstr>
      <vt:lpstr>PowerPoint Presentation</vt:lpstr>
      <vt:lpstr>Future Roadmap: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Chinnu Ponugoti</dc:creator>
  <cp:lastModifiedBy>Chinnu Ponugoti</cp:lastModifiedBy>
  <cp:revision>1</cp:revision>
  <dcterms:created xsi:type="dcterms:W3CDTF">2026-06-02T20:40:42Z</dcterms:created>
  <dcterms:modified xsi:type="dcterms:W3CDTF">2026-06-03T03:14:35Z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